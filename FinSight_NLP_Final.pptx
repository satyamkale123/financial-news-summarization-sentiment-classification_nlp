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Accuracy &amp; F1-Score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Naive Bayes</c:v>
                  </c:pt>
                  <c:pt idx="2">
                    <c:v>FinBERT (Ours)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55</c:v>
                </c:pt>
                <c:pt idx="2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Naive Bayes</c:v>
                  </c:pt>
                  <c:pt idx="2">
                    <c:v>FinBERT (Ours)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</c:v>
                </c:pt>
                <c:pt idx="1">
                  <c:v>39</c:v>
                </c:pt>
                <c:pt idx="2">
                  <c:v>84.9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827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75569"/>
                </a:solidFill>
                <a:latin typeface="Arial"/>
              </a:rPr>
              <a:t>ROUGE-1 Score per Article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 Score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Apple Q4</c:v>
                  </c:pt>
                  <c:pt idx="1">
                    <c:v>Fed Hike</c:v>
                  </c:pt>
                  <c:pt idx="2">
                    <c:v>Tesla Miss</c:v>
                  </c:pt>
                  <c:pt idx="3">
                    <c:v>Amazon AWS</c:v>
                  </c:pt>
                  <c:pt idx="4">
                    <c:v>JPMorgan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0.21</c:v>
                </c:pt>
                <c:pt idx="2">
                  <c:v>0.22</c:v>
                </c:pt>
                <c:pt idx="3">
                  <c:v>0.24</c:v>
                </c:pt>
                <c:pt idx="4">
                  <c:v>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291840"/>
            <a:ext cx="1828800" cy="1828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00B4D8"/>
                </a:solidFill>
              </a:rPr>
              <a:t>DATA 641 · Natural Language Processing · University of Maryland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858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Financial News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Summarization &amp;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Sentiment Classification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Automated NLP pipeline using T5 + FinBERT to summarize financial articles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and classify market sentiment with 85%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4114800" cy="27432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Satyam Kale  ·  Adwait Gaur  ·  Mayur Sangle</a:t>
            </a:r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   |   Team 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9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5486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Definition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00B4D8"/>
                </a:solidFill>
              </a:rPr>
              <a:t>Speaker: Satyam Kale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10,000+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2578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Articles/day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30632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~60%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8600" y="34472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Headline bias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3931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Seconds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4315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Time window to 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411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The Challenge Facing Investors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20440" y="100584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12618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📰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16052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Information Overload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Thousands of financial articles published daily — impossible to read manually in time.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224028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24963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605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Misleading Headlines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2651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Headlines are often clickbait, biased or emotion-driven rather than factual.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347472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37307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6052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Time-Sensitive Decisions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60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Missing key news by even minutes means lost investment opportunities.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20440" y="4663440"/>
            <a:ext cx="5394960" cy="3474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6817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Goal: Automate summarization + sentiment classification of financial news to support investment decisions.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&amp; Data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256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Adwait Gaur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05156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Financial PhraseBank  —  Aalto University, Finland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Real sentences extracted from Thomson Reuters financial news · Manually annotated by 16 human experts (finance students &amp; professionals)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2697480" cy="18745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26974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~50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Positive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"Operating profit rose 50% to EUR 13.1 mn"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194560"/>
            <a:ext cx="2697480" cy="18745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219456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~30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0" y="2971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Neutral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"The annual meeting will be held March 23"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2194560"/>
            <a:ext cx="2697480" cy="1874520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2194560"/>
            <a:ext cx="26974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</a:rPr>
              <a:t>~18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035040" y="29718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Negative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3337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"Operating loss widened to EUR 5.7 mn"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⭐  Why sentences_allagree split?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Only sentences where ALL 16 annotators agreed on the label — the highest-quality, most unambiguous gold-standard subset. Small but extremely clean.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Architecture &amp; Approach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92240" y="228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Mayur Sangle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82296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Raw financial article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23160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965960" cy="82296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T5-small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Summarization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1965960" cy="8229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FinBERT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Sentiment classification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10972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03720" y="914400"/>
            <a:ext cx="1965960" cy="8229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98755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13533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Summary + Sentiment label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96596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965960"/>
            <a:ext cx="41148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T5-small  —  Summarization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487168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Google's Text-to-Text Transfer Transformer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Pretrained on 750GB of diverse text (C4 dataset)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Input: 'summarize: &lt;article text&gt;'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Output: 2-3 sentence extractive summary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Beam search decoding (beams=4) for quality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Evaluated with ROUGE-1, ROUGE-2, ROUGE-L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965960"/>
            <a:ext cx="411480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075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FinBERT  —  Sentiment Classification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487168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BERT fine-tuned on 4.9B words of financial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By ProsusAI — domain-specific language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3-class output: Positive / Negative / Neutral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Pretrained = no training needed on our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Transfer learning = generalizes to any article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Compared vs Logistic Regression &amp; Naive Bayes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1: Sentiment Classification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Satyam Kale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60120"/>
          <a:ext cx="50292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05840"/>
            <a:ext cx="310896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0" y="1005840"/>
            <a:ext cx="548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5833872" y="10698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85%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833872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FinBERT Accuracy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1920240"/>
            <a:ext cx="310896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1920240"/>
            <a:ext cx="54864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5833872" y="19842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0.849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833872" y="2359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FinBERT F1-Score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2834640"/>
            <a:ext cx="310896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2834640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833872" y="2898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+117%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833872" y="3273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F1 vs Baseline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669280" y="3749040"/>
            <a:ext cx="310896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3749040"/>
            <a:ext cx="548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8"/>
          <p:cNvSpPr/>
          <p:nvPr/>
        </p:nvSpPr>
        <p:spPr>
          <a:xfrm>
            <a:off x="5833872" y="3813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95%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5833872" y="4187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Avg Confidence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2: Summarization Results — T5-small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0" y="228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Adwait Gaur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914400"/>
          <a:ext cx="49377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960120"/>
            <a:ext cx="32004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960120"/>
            <a:ext cx="54864" cy="6766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5742432" y="1014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ROUGE-1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0" y="1014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0.205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742432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Unigram overlap with reference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77840" y="1764792"/>
            <a:ext cx="32004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764792"/>
            <a:ext cx="54864" cy="6766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5742432" y="18196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ROUGE-2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0" y="18196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0.015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42432" y="2130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Bigram overlap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2569464"/>
            <a:ext cx="32004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569464"/>
            <a:ext cx="54864" cy="6766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742432" y="2624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ROUGE-L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2624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0.138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42432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Longest common subsequence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65760" y="3931920"/>
            <a:ext cx="54864" cy="10058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9867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Example — Apple Q4 Earnings: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42611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</a:rPr>
              <a:t>T5 Summary: "Apple reported Q4 earnings of $1.46 EPS on $89.5B revenue driven by services growth and strong iPhone demand, returning $25B to shareholders."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Task 3: End-to-End Pipeline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0" y="228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Mayur Sangle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5196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033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Apple Q4 Earnings Beat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58768" y="1033272"/>
            <a:ext cx="640080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1033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95%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→ Positive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47672"/>
            <a:ext cx="425196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947672"/>
            <a:ext cx="54864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020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Fed Rate Hike Impact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58768" y="2020824"/>
            <a:ext cx="640080" cy="256032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20208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97%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404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→ Negative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35224"/>
            <a:ext cx="425196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35224"/>
            <a:ext cx="54864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30083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📉 Tesla Production Miss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58768" y="3008376"/>
            <a:ext cx="640080" cy="256032"/>
          </a:xfrm>
          <a:prstGeom prst="rect">
            <a:avLst/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3008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97%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3392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→ Negative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960120"/>
            <a:ext cx="425196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960120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056632" y="10332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Amazon AWS Growth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85048" y="1033272"/>
            <a:ext cx="640080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10332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96%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56632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→ Positive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947672"/>
            <a:ext cx="425196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1947672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5056632" y="2020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📈 JPMorgan Credit Risk Warning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85048" y="2020824"/>
            <a:ext cx="640080" cy="256032"/>
          </a:xfrm>
          <a:prstGeom prst="rect">
            <a:avLst/>
          </a:prstGeom>
          <a:solidFill>
            <a:srgbClr val="10B981">
              <a:alpha val="18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85048" y="20208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96%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56632" y="24048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→ Positive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913632"/>
            <a:ext cx="3886200" cy="91440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977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95.2%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446520" y="40416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Average FinBERT confidence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across all 5 articles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913632"/>
            <a:ext cx="4251960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🖥️  LIVE DEMO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Switching to Streamlit app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Try any real financial article live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554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It Works: Transfer Learning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75120" y="22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Satyam Kale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749808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</a:rPr>
              <a:t>Analogy: Hiring a Wall Street analyst with 20 years experience to classify 20 headlines. They score 85%+ — not because you trained them on those 20, but because of their existing deep expertise.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9748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269748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4.9B words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2487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FinBERT Pre-training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Trained on Reuters, Bloomberg, SEC filings — already understands financial language deeply before seeing a single sample from our dataset.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828800"/>
            <a:ext cx="269748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82880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 training epochs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37560" y="2487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 Fine-tuning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90779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We run FinBERT in pure inference mode. The model generalizes from its pre-training to classify any new financial text with high confidence.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828800"/>
            <a:ext cx="2697480" cy="3063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828800"/>
            <a:ext cx="2697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965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98 samples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72200" y="24871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Why Small Data Works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907792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Our 98 samples are used only for evaluation, not training. This is why results are strong — the model already knows financial language.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554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Challenges, Limitations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75120" y="22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Adwait Gaur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Challenges Encountered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HuggingFace Dataset API Changes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financial_phrasebank loader deprecated mid-project, required fallback to direct data loading.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1480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95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Small Dataset Size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sentences_allagree contains only 98 samples — addressed by using pretrained models that don't require large training data.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411480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Label Alignment Bug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FinBERT and dataset used different label encodings — fixed by explicit mapping of positive/negative/neutral.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114800" cy="749808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💻 GPU Compatibility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bitsandbytes conflicts in Colab resolved by using standard T4 inference pipeline without quantization.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Future Work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384048" cy="502920"/>
          </a:xfrm>
          <a:prstGeom prst="rect">
            <a:avLst/>
          </a:prstGeom>
          <a:solidFill>
            <a:srgbClr val="00B4D8">
              <a:alpha val="2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371600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14264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Fine-tune FinBERT on domain-specific financial news for further accuracy gains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084832"/>
            <a:ext cx="384048" cy="502920"/>
          </a:xfrm>
          <a:prstGeom prst="rect">
            <a:avLst/>
          </a:prstGeom>
          <a:solidFill>
            <a:srgbClr val="00B4D8">
              <a:alpha val="2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084832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21396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Replace T5-small with BART-large or Pegasus for higher ROUGE scores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798064"/>
            <a:ext cx="384048" cy="502920"/>
          </a:xfrm>
          <a:prstGeom prst="rect">
            <a:avLst/>
          </a:prstGeom>
          <a:solidFill>
            <a:srgbClr val="00B4D8">
              <a:alpha val="2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98064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30368" y="2852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Scale to full Financial PhraseBank (4,840 sentences) and Reuters corpus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511296"/>
            <a:ext cx="384048" cy="502920"/>
          </a:xfrm>
          <a:prstGeom prst="rect">
            <a:avLst/>
          </a:prstGeom>
          <a:solidFill>
            <a:srgbClr val="00B4D8">
              <a:alpha val="2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511296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3566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Add real-time news scraping from Yahoo Finance / Bloomberg RSS feeds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224528"/>
            <a:ext cx="384048" cy="502920"/>
          </a:xfrm>
          <a:prstGeom prst="rect">
            <a:avLst/>
          </a:prstGeom>
          <a:solidFill>
            <a:srgbClr val="00B4D8">
              <a:alpha val="22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24528"/>
            <a:ext cx="384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2793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Integrate stock price movement correlation to validate sentiment signals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0B981">
              <a:alpha val="1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Speaker: Mayur Sangle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690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8046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90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85%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FinBERT Classification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40690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417320"/>
            <a:ext cx="54864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90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+117%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98348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F1 Improvement over Baselines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40690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23160"/>
            <a:ext cx="54864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96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0.205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ROUGE-1 — T5 Summarization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423160"/>
            <a:ext cx="4069080" cy="8046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23160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96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~10s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9834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Full Pipeline Runtime per Article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321040" cy="74980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8444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We built a complete, deployable Financial NLP system — from raw article to actionable insight — using state-of-the-art pretrained transformers. FinBERT outperforms traditional ML baselines by 117% in F1, and our Streamlit demo proves the system works on any real-world financial text.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Models: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FinBERT  ·  T5-small  ·  Logistic Regression  ·  Naive Bayes  |  </a:t>
            </a:r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</a:rPr>
              <a:t>Stack: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PyTorch  ·  HuggingFace  ·  Streamlit  ·  Google Colab T4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News Summarization and Sentiment Classification</dc:title>
  <dc:subject>PptxGenJS Presentation</dc:subject>
  <dc:creator>PptxGenJS</dc:creator>
  <cp:lastModifiedBy>PptxGenJS</cp:lastModifiedBy>
  <cp:revision>1</cp:revision>
  <dcterms:created xsi:type="dcterms:W3CDTF">2026-05-05T19:59:22Z</dcterms:created>
  <dcterms:modified xsi:type="dcterms:W3CDTF">2026-05-05T19:59:22Z</dcterms:modified>
</cp:coreProperties>
</file>